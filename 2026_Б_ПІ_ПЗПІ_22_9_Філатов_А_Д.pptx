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100" d="100"/>
          <a:sy n="100" d="100"/>
        </p:scale>
        <p:origin x="2238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93624-3E2D-1D85-A03A-7B6A08699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32F1F77-ABF2-E8A1-06F8-EB02F0BFB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15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6F3FF79-0D0D-BC52-A3AA-B0AB32AE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C9ABC5F-6C91-319E-A0C4-6A1CC78A7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41304EA-ECEC-F333-88BB-3D7973CE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18064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E11FA-D6E1-234C-1796-25E11CAE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C1CFC56-E487-DE7C-2B17-7909B11F9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AD228D-9000-3443-DF9B-D86E539B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26B4325-7A9F-2394-5ADB-8083AAD6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67431A0-D2BA-9DAE-E1F8-6669E427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59523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9AF40-1EAB-49F0-305C-E1E2D26B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FD3FEC2-946E-1BE9-7A17-EDF565EC2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4B97EC-D3A6-3B92-B543-0BBD696C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3185AA-FD65-5D88-6379-EC4C553C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44124E2-D370-4D4F-14F4-64981992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1872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72707-7F91-4443-8829-CB0D82AE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ABC893-371B-A795-4E38-E36D342DC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B9B296B-FFA9-0125-350E-BACEFE111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03695CF-35DB-3387-FCF6-BF68EAA9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9843041-3D02-2D11-A921-2895AAB4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81601B-5621-E7CF-6AA6-AE354AB7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45481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11A220-702C-0D43-46F5-DBB4BA78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B5E18DC-216C-F149-28E5-0B8B3487E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BE40E1-E727-C763-5D31-562EF1C1E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7EF9EE9-9250-D6D5-8461-85C256F61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AE7706C-95F0-9C31-0006-4A32C6DDF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66219EB-BEA5-949C-B098-BA7FEF32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C2F6B62-9BA0-0552-A31C-19AEDD59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663C878-A53E-A7B7-2232-56A5AA0D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36554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B6A06-286A-7720-5379-DB2F7EA6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8FA60D4-0AC5-E16F-8FA6-633F17B9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C46BFA-F1E0-0FCE-A48A-5D9C0F06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2BBA96-18B9-9ABA-9257-64BB704B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8230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1148036-D780-66A7-3D7A-5BBD6A94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8A6BF37-DD50-8048-3B6C-70F1B886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2BEEA01-6E9B-B781-6F89-B6FF4F11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98491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4EC63-41F9-E2E4-D301-FAD03DB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348C54-836A-6038-2AF8-77762B76D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18E8F9C-EF17-547A-C463-DFECA090D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7C949D2-8ADF-A8CB-ACC4-53B6F885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F79931A-D5B4-39B3-CC5B-ADBC649E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319E973-FEA7-1291-DA3D-E223AAAB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79267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7F7FB-52AA-1248-8E01-6A623D37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062F537-B1E4-08FF-DE1E-87EC7C6DF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2F732AF-561C-55AC-5FB0-0D63CA277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261082A-6F89-2656-9565-5FB7288B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F91169-858A-EA45-3252-7B36366F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3A28A67-C36D-608A-A32B-D933A2C2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04129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FB76F9-5D4F-0073-EF2A-262E0FFC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192B438-AAAC-4887-05A4-2CCD74D93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11253CF-E41B-EF15-232A-756E90B9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81B25C-7870-2107-7982-B07DE3E3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FF061E2-305C-2FFB-F84F-705FA50B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13277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3F12296-271E-104A-4404-04974B911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30C70CA-6C9D-31E0-59CB-2A32144AD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9C2591-384D-E81A-555C-8EF27883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85B4A6-E480-11F2-6B13-779FA9BE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A2179A-C422-D7BC-B2FE-79CFB4B1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9665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6069202-0C2E-3514-9DD9-DC2D0760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15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B96F8B1-021F-1319-B475-99166AB7D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15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14273A-0039-7C07-11F4-7ACF3A524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930E6-A390-4CBC-86BC-D0C8A60CCE0D}" type="datetimeFigureOut">
              <a:rPr lang="en-150" smtClean="0"/>
              <a:t>04/07/2026</a:t>
            </a:fld>
            <a:endParaRPr lang="en-15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A32DAD4-93B9-0DB2-A635-1D0024762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041EBE0-A72B-B0D5-8F91-842A05616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28E83-6F0B-49F8-8D07-2B2083F63799}" type="slidenum">
              <a:rPr lang="en-150" smtClean="0"/>
              <a:t>‹nr.›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68669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00AB8-01DE-09DA-15F9-194FAA043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850" y="1041400"/>
            <a:ext cx="11798300" cy="2387600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Arial" panose="020B0604020202020204" pitchFamily="34" charset="0"/>
                <a:cs typeface="Arial" panose="020B0604020202020204" pitchFamily="34" charset="0"/>
              </a:rPr>
              <a:t>Кваліфікаційна робота бакалавра</a:t>
            </a:r>
            <a:endParaRPr lang="en-150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17B4B3E-B509-79EB-B721-05A8478FB3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Інформаційна система автоматизованого пошуку вакансій і подання заявок</a:t>
            </a:r>
            <a:endParaRPr lang="en-150" dirty="0"/>
          </a:p>
          <a:p>
            <a:endParaRPr lang="en-15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113EEB3-BBA5-D8BC-7FDD-E7D5133C3CEF}"/>
              </a:ext>
            </a:extLst>
          </p:cNvPr>
          <p:cNvSpPr txBox="1"/>
          <p:nvPr/>
        </p:nvSpPr>
        <p:spPr>
          <a:xfrm>
            <a:off x="2006600" y="118070"/>
            <a:ext cx="866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b="1" dirty="0"/>
              <a:t>Міністерство освіти і науки України </a:t>
            </a:r>
          </a:p>
          <a:p>
            <a:pPr algn="ctr"/>
            <a:r>
              <a:rPr lang="uk-UA" sz="2400" b="1" dirty="0"/>
              <a:t>Харківський національний університет радіоелектроніки</a:t>
            </a:r>
            <a:endParaRPr lang="en-150" sz="2400" b="1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A0A7A1D-6476-F89A-5CE0-53479C8558F5}"/>
              </a:ext>
            </a:extLst>
          </p:cNvPr>
          <p:cNvSpPr txBox="1"/>
          <p:nvPr/>
        </p:nvSpPr>
        <p:spPr>
          <a:xfrm>
            <a:off x="3187700" y="5257800"/>
            <a:ext cx="2603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Виконав</a:t>
            </a:r>
            <a:r>
              <a:rPr lang="en-CA" dirty="0"/>
              <a:t>:</a:t>
            </a:r>
          </a:p>
          <a:p>
            <a:r>
              <a:rPr lang="uk-UA" dirty="0"/>
              <a:t>ст. гр. ПЗПІ-22-9</a:t>
            </a:r>
          </a:p>
          <a:p>
            <a:r>
              <a:rPr lang="uk-UA" dirty="0"/>
              <a:t>Філатов А. Д.</a:t>
            </a:r>
            <a:endParaRPr lang="en-150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CFF2A9D-804D-CAF4-E799-E0117D811980}"/>
              </a:ext>
            </a:extLst>
          </p:cNvPr>
          <p:cNvSpPr txBox="1"/>
          <p:nvPr/>
        </p:nvSpPr>
        <p:spPr>
          <a:xfrm>
            <a:off x="6838950" y="5257800"/>
            <a:ext cx="2603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Науковий керівник</a:t>
            </a:r>
            <a:r>
              <a:rPr lang="en-CA" dirty="0"/>
              <a:t>:</a:t>
            </a:r>
            <a:br>
              <a:rPr lang="en-CA" dirty="0"/>
            </a:br>
            <a:r>
              <a:rPr lang="uk-UA" dirty="0"/>
              <a:t>доц. каф. ПІ.</a:t>
            </a:r>
          </a:p>
          <a:p>
            <a:r>
              <a:rPr lang="uk-UA" dirty="0" err="1"/>
              <a:t>Вечур</a:t>
            </a:r>
            <a:r>
              <a:rPr lang="uk-UA" dirty="0"/>
              <a:t> О. В.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222629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68A959C4-F7BB-A898-CA53-DBE6E0EF38F7}"/>
              </a:ext>
            </a:extLst>
          </p:cNvPr>
          <p:cNvSpPr txBox="1"/>
          <p:nvPr/>
        </p:nvSpPr>
        <p:spPr>
          <a:xfrm>
            <a:off x="2057400" y="1093232"/>
            <a:ext cx="497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/>
              <a:t>Мета роботи</a:t>
            </a:r>
            <a:endParaRPr lang="en-150" sz="200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D41E7261-8306-10B1-40AD-1F7FD1549565}"/>
              </a:ext>
            </a:extLst>
          </p:cNvPr>
          <p:cNvSpPr txBox="1"/>
          <p:nvPr/>
        </p:nvSpPr>
        <p:spPr>
          <a:xfrm>
            <a:off x="1917700" y="2045038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2000" dirty="0" err="1"/>
              <a:t>Автоматизація</a:t>
            </a:r>
            <a:r>
              <a:rPr lang="en-150" sz="2000" dirty="0"/>
              <a:t> </a:t>
            </a:r>
            <a:r>
              <a:rPr lang="en-150" sz="2000" dirty="0" err="1"/>
              <a:t>процесу</a:t>
            </a:r>
            <a:r>
              <a:rPr lang="en-150" sz="2000" dirty="0"/>
              <a:t> </a:t>
            </a:r>
            <a:r>
              <a:rPr lang="en-150" sz="2000" dirty="0" err="1"/>
              <a:t>пошуку</a:t>
            </a:r>
            <a:r>
              <a:rPr lang="en-150" sz="2000" dirty="0"/>
              <a:t> </a:t>
            </a:r>
            <a:r>
              <a:rPr lang="en-150" sz="2000" dirty="0" err="1"/>
              <a:t>роботи</a:t>
            </a:r>
            <a:r>
              <a:rPr lang="en-150" sz="2000" dirty="0"/>
              <a:t> </a:t>
            </a:r>
            <a:r>
              <a:rPr lang="en-150" sz="2000" dirty="0" err="1"/>
              <a:t>за</a:t>
            </a:r>
            <a:r>
              <a:rPr lang="en-150" sz="2000" dirty="0"/>
              <a:t> </a:t>
            </a:r>
            <a:r>
              <a:rPr lang="en-150" sz="2000" dirty="0" err="1"/>
              <a:t>допомогою</a:t>
            </a:r>
            <a:r>
              <a:rPr lang="en-150" sz="2000" dirty="0"/>
              <a:t> </a:t>
            </a:r>
            <a:r>
              <a:rPr lang="en-150" sz="2000" dirty="0" err="1"/>
              <a:t>сучасних</a:t>
            </a:r>
            <a:r>
              <a:rPr lang="en-150" sz="2000" dirty="0"/>
              <a:t> </a:t>
            </a:r>
            <a:r>
              <a:rPr lang="en-150" sz="2000" dirty="0" err="1"/>
              <a:t>вебтехнологій</a:t>
            </a:r>
            <a:r>
              <a:rPr lang="en-150" sz="2000" dirty="0"/>
              <a:t> </a:t>
            </a:r>
            <a:r>
              <a:rPr lang="en-150" sz="2000" dirty="0" err="1"/>
              <a:t>та</a:t>
            </a:r>
            <a:r>
              <a:rPr lang="en-150" sz="2000" dirty="0"/>
              <a:t> </a:t>
            </a:r>
            <a:r>
              <a:rPr lang="en-150" sz="2000" dirty="0" err="1"/>
              <a:t>штучного</a:t>
            </a:r>
            <a:r>
              <a:rPr lang="en-150" sz="2000" dirty="0"/>
              <a:t> </a:t>
            </a:r>
            <a:r>
              <a:rPr lang="en-150" sz="2000" dirty="0" err="1"/>
              <a:t>інтелекту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2000" dirty="0" err="1"/>
              <a:t>Агрегація</a:t>
            </a:r>
            <a:r>
              <a:rPr lang="en-150" sz="2000" dirty="0"/>
              <a:t> </a:t>
            </a:r>
            <a:r>
              <a:rPr lang="en-150" sz="2000" dirty="0" err="1"/>
              <a:t>вакансій</a:t>
            </a:r>
            <a:r>
              <a:rPr lang="en-150" sz="2000" dirty="0"/>
              <a:t> </a:t>
            </a:r>
            <a:r>
              <a:rPr lang="en-150" sz="2000" dirty="0" err="1"/>
              <a:t>із</a:t>
            </a:r>
            <a:r>
              <a:rPr lang="en-150" sz="2000" dirty="0"/>
              <a:t> </a:t>
            </a:r>
            <a:r>
              <a:rPr lang="en-150" sz="2000" dirty="0" err="1"/>
              <a:t>кількох</a:t>
            </a:r>
            <a:r>
              <a:rPr lang="en-150" sz="2000" dirty="0"/>
              <a:t> </a:t>
            </a:r>
            <a:r>
              <a:rPr lang="en-150" sz="2000" dirty="0" err="1"/>
              <a:t>зовнішніх</a:t>
            </a:r>
            <a:r>
              <a:rPr lang="en-150" sz="2000" dirty="0"/>
              <a:t> </a:t>
            </a:r>
            <a:r>
              <a:rPr lang="en-150" sz="2000" dirty="0" err="1"/>
              <a:t>джерел</a:t>
            </a:r>
            <a:r>
              <a:rPr lang="en-CA" sz="2000" dirty="0"/>
              <a:t> </a:t>
            </a:r>
            <a:r>
              <a:rPr lang="uk-UA" sz="2000" dirty="0"/>
              <a:t>та біржі праці Бельгії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2000" dirty="0" err="1"/>
              <a:t>Розробка</a:t>
            </a:r>
            <a:r>
              <a:rPr lang="en-150" sz="2000" dirty="0"/>
              <a:t> </a:t>
            </a:r>
            <a:r>
              <a:rPr lang="en-150" sz="2000" dirty="0" err="1"/>
              <a:t>конструктора</a:t>
            </a:r>
            <a:r>
              <a:rPr lang="en-150" sz="2000" dirty="0"/>
              <a:t> </a:t>
            </a:r>
            <a:r>
              <a:rPr lang="en-150" sz="2000" dirty="0" err="1"/>
              <a:t>резюме</a:t>
            </a:r>
            <a:r>
              <a:rPr lang="en-150" sz="2000" dirty="0"/>
              <a:t> з </a:t>
            </a:r>
            <a:r>
              <a:rPr lang="en-150" sz="2000" dirty="0" err="1"/>
              <a:t>автоматичним</a:t>
            </a:r>
            <a:r>
              <a:rPr lang="en-150" sz="2000" dirty="0"/>
              <a:t> </a:t>
            </a:r>
            <a:r>
              <a:rPr lang="en-150" sz="2000" dirty="0" err="1"/>
              <a:t>збереженням</a:t>
            </a:r>
            <a:r>
              <a:rPr lang="en-150" sz="2000" dirty="0"/>
              <a:t> 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2000" dirty="0" err="1"/>
              <a:t>Реалізація</a:t>
            </a:r>
            <a:r>
              <a:rPr lang="en-150" sz="2000" dirty="0"/>
              <a:t> AI-</a:t>
            </a:r>
            <a:r>
              <a:rPr lang="en-150" sz="2000" dirty="0" err="1"/>
              <a:t>оцінювання</a:t>
            </a:r>
            <a:r>
              <a:rPr lang="en-150" sz="2000" dirty="0"/>
              <a:t> </a:t>
            </a:r>
            <a:r>
              <a:rPr lang="en-150" sz="2000" dirty="0" err="1"/>
              <a:t>відповідності</a:t>
            </a:r>
            <a:r>
              <a:rPr lang="en-150" sz="2000" dirty="0"/>
              <a:t> </a:t>
            </a:r>
            <a:r>
              <a:rPr lang="en-150" sz="2000" dirty="0" err="1"/>
              <a:t>вакансій</a:t>
            </a:r>
            <a:r>
              <a:rPr lang="en-150" sz="2000" dirty="0"/>
              <a:t> </a:t>
            </a:r>
            <a:r>
              <a:rPr lang="en-150" sz="2000" dirty="0" err="1"/>
              <a:t>профілю</a:t>
            </a:r>
            <a:r>
              <a:rPr lang="en-150" sz="2000" dirty="0"/>
              <a:t> </a:t>
            </a:r>
            <a:r>
              <a:rPr lang="en-150" sz="2000" dirty="0" err="1"/>
              <a:t>користувача</a:t>
            </a: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2000" dirty="0" err="1"/>
              <a:t>Автоматизація</a:t>
            </a:r>
            <a:r>
              <a:rPr lang="en-150" sz="2000" dirty="0"/>
              <a:t> </a:t>
            </a:r>
            <a:r>
              <a:rPr lang="en-150" sz="2000" dirty="0" err="1"/>
              <a:t>процесу</a:t>
            </a:r>
            <a:r>
              <a:rPr lang="en-150" sz="2000" dirty="0"/>
              <a:t> </a:t>
            </a:r>
            <a:r>
              <a:rPr lang="en-150" sz="2000" dirty="0" err="1"/>
              <a:t>подання</a:t>
            </a:r>
            <a:r>
              <a:rPr lang="en-150" sz="2000" dirty="0"/>
              <a:t> </a:t>
            </a:r>
            <a:r>
              <a:rPr lang="en-150" sz="2000" dirty="0" err="1"/>
              <a:t>заявок</a:t>
            </a:r>
            <a:endParaRPr lang="en-150" sz="2000" dirty="0"/>
          </a:p>
        </p:txBody>
      </p:sp>
    </p:spTree>
    <p:extLst>
      <p:ext uri="{BB962C8B-B14F-4D97-AF65-F5344CB8AC3E}">
        <p14:creationId xmlns:p14="http://schemas.microsoft.com/office/powerpoint/2010/main" val="216687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7CD4A1FF-63DA-DEDE-387B-F9E94DA55852}"/>
              </a:ext>
            </a:extLst>
          </p:cNvPr>
          <p:cNvSpPr txBox="1"/>
          <p:nvPr/>
        </p:nvSpPr>
        <p:spPr>
          <a:xfrm>
            <a:off x="640681" y="423044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000" b="1" dirty="0" err="1"/>
              <a:t>Аналіз</a:t>
            </a:r>
            <a:r>
              <a:rPr lang="en-150" sz="2000" b="1" dirty="0"/>
              <a:t> </a:t>
            </a:r>
            <a:r>
              <a:rPr lang="en-150" sz="2400" b="1" dirty="0" err="1"/>
              <a:t>предметної</a:t>
            </a:r>
            <a:r>
              <a:rPr lang="en-150" sz="2000" b="1" dirty="0"/>
              <a:t> </a:t>
            </a:r>
            <a:r>
              <a:rPr lang="en-150" sz="2000" b="1" dirty="0" err="1"/>
              <a:t>області</a:t>
            </a:r>
            <a:endParaRPr lang="en-150" sz="2000" b="1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A31ED97-AAFC-5D12-1499-99C382C0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037717"/>
            <a:ext cx="11106150" cy="11620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1E1E7B2-46B9-198A-8F59-A319B1EDC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698709"/>
            <a:ext cx="11163300" cy="1095375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7E253E95-7D48-8A82-654F-0B93DE30BDCE}"/>
              </a:ext>
            </a:extLst>
          </p:cNvPr>
          <p:cNvSpPr txBox="1"/>
          <p:nvPr/>
        </p:nvSpPr>
        <p:spPr>
          <a:xfrm>
            <a:off x="7061033" y="4651558"/>
            <a:ext cx="45308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  <a:p>
            <a:r>
              <a:rPr lang="en-150" dirty="0" err="1"/>
              <a:t>Створення</a:t>
            </a:r>
            <a:r>
              <a:rPr lang="en-150" dirty="0"/>
              <a:t> </a:t>
            </a:r>
            <a:r>
              <a:rPr lang="en-150" dirty="0" err="1"/>
              <a:t>та</a:t>
            </a:r>
            <a:r>
              <a:rPr lang="en-150" dirty="0"/>
              <a:t> </a:t>
            </a:r>
            <a:r>
              <a:rPr lang="en-150" dirty="0" err="1"/>
              <a:t>редагування</a:t>
            </a:r>
            <a:r>
              <a:rPr lang="en-150" dirty="0"/>
              <a:t> </a:t>
            </a:r>
            <a:r>
              <a:rPr lang="en-150" dirty="0" err="1"/>
              <a:t>резюме</a:t>
            </a:r>
            <a:r>
              <a:rPr lang="en-150" dirty="0"/>
              <a:t> </a:t>
            </a:r>
            <a:r>
              <a:rPr lang="en-150" dirty="0" err="1"/>
              <a:t>виконується</a:t>
            </a:r>
            <a:r>
              <a:rPr lang="en-150" dirty="0"/>
              <a:t> </a:t>
            </a:r>
            <a:r>
              <a:rPr lang="en-150" dirty="0" err="1"/>
              <a:t>окремо</a:t>
            </a:r>
            <a:r>
              <a:rPr lang="en-150" dirty="0"/>
              <a:t> </a:t>
            </a:r>
            <a:r>
              <a:rPr lang="en-150" dirty="0" err="1"/>
              <a:t>від</a:t>
            </a:r>
            <a:r>
              <a:rPr lang="en-150" dirty="0"/>
              <a:t> </a:t>
            </a:r>
            <a:r>
              <a:rPr lang="en-150" dirty="0" err="1"/>
              <a:t>процесу</a:t>
            </a:r>
            <a:r>
              <a:rPr lang="en-150" dirty="0"/>
              <a:t> </a:t>
            </a:r>
            <a:r>
              <a:rPr lang="en-150" dirty="0" err="1"/>
              <a:t>пошуку</a:t>
            </a:r>
            <a:r>
              <a:rPr lang="en-150" dirty="0"/>
              <a:t> </a:t>
            </a:r>
            <a:r>
              <a:rPr lang="en-150" dirty="0" err="1"/>
              <a:t>вакансій</a:t>
            </a:r>
            <a:r>
              <a:rPr lang="en-150" dirty="0"/>
              <a:t>.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067B0D39-6872-56A4-8B58-F0E864248667}"/>
              </a:ext>
            </a:extLst>
          </p:cNvPr>
          <p:cNvSpPr txBox="1"/>
          <p:nvPr/>
        </p:nvSpPr>
        <p:spPr>
          <a:xfrm>
            <a:off x="243890" y="4651558"/>
            <a:ext cx="6093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  <a:p>
            <a:r>
              <a:rPr lang="uk-UA" dirty="0"/>
              <a:t>П</a:t>
            </a:r>
            <a:r>
              <a:rPr lang="en-150" dirty="0" err="1"/>
              <a:t>латформа</a:t>
            </a:r>
            <a:r>
              <a:rPr lang="en-150" dirty="0"/>
              <a:t> </a:t>
            </a:r>
            <a:r>
              <a:rPr lang="en-150" b="1" dirty="0" err="1"/>
              <a:t>JobFinder</a:t>
            </a:r>
            <a:r>
              <a:rPr lang="en-150" dirty="0"/>
              <a:t> </a:t>
            </a:r>
            <a:r>
              <a:rPr lang="en-150" dirty="0" err="1"/>
              <a:t>об'єднує</a:t>
            </a:r>
            <a:r>
              <a:rPr lang="en-150" dirty="0"/>
              <a:t> </a:t>
            </a:r>
            <a:r>
              <a:rPr lang="en-150" dirty="0" err="1"/>
              <a:t>ці</a:t>
            </a:r>
            <a:r>
              <a:rPr lang="en-150" dirty="0"/>
              <a:t> </a:t>
            </a:r>
            <a:r>
              <a:rPr lang="en-150" dirty="0" err="1"/>
              <a:t>процеси</a:t>
            </a:r>
            <a:r>
              <a:rPr lang="en-150" dirty="0"/>
              <a:t>, </a:t>
            </a:r>
            <a:r>
              <a:rPr lang="en-150" dirty="0" err="1"/>
              <a:t>забезпечуючи</a:t>
            </a:r>
            <a:r>
              <a:rPr lang="en-150" dirty="0"/>
              <a:t> </a:t>
            </a:r>
            <a:r>
              <a:rPr lang="en-150" dirty="0" err="1"/>
              <a:t>створення</a:t>
            </a:r>
            <a:r>
              <a:rPr lang="en-150" dirty="0"/>
              <a:t> </a:t>
            </a:r>
            <a:r>
              <a:rPr lang="en-150" dirty="0" err="1"/>
              <a:t>резюме</a:t>
            </a:r>
            <a:r>
              <a:rPr lang="en-150" dirty="0"/>
              <a:t>, </a:t>
            </a:r>
            <a:r>
              <a:rPr lang="en-150" dirty="0" err="1"/>
              <a:t>агрегацію</a:t>
            </a:r>
            <a:r>
              <a:rPr lang="en-150" dirty="0"/>
              <a:t> </a:t>
            </a:r>
            <a:r>
              <a:rPr lang="en-150" dirty="0" err="1"/>
              <a:t>вакансій</a:t>
            </a:r>
            <a:r>
              <a:rPr lang="en-150" dirty="0"/>
              <a:t> </a:t>
            </a:r>
            <a:r>
              <a:rPr lang="en-150" dirty="0" err="1"/>
              <a:t>та</a:t>
            </a:r>
            <a:r>
              <a:rPr lang="en-150" dirty="0"/>
              <a:t> </a:t>
            </a:r>
            <a:r>
              <a:rPr lang="en-150" dirty="0" err="1"/>
              <a:t>їх</a:t>
            </a:r>
            <a:r>
              <a:rPr lang="en-150" dirty="0"/>
              <a:t> </a:t>
            </a:r>
            <a:r>
              <a:rPr lang="en-150" dirty="0" err="1"/>
              <a:t>сортування</a:t>
            </a:r>
            <a:r>
              <a:rPr lang="en-150" dirty="0"/>
              <a:t> </a:t>
            </a:r>
            <a:r>
              <a:rPr lang="en-150" dirty="0" err="1"/>
              <a:t>за</a:t>
            </a:r>
            <a:r>
              <a:rPr lang="en-150" dirty="0"/>
              <a:t> </a:t>
            </a:r>
            <a:r>
              <a:rPr lang="uk-UA" dirty="0"/>
              <a:t>вподобаннями </a:t>
            </a:r>
            <a:r>
              <a:rPr lang="en-150" dirty="0" err="1"/>
              <a:t>користувача</a:t>
            </a:r>
            <a:r>
              <a:rPr lang="en-15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42F388E4-D90E-52D6-DF41-E20E90C9EBB8}"/>
              </a:ext>
            </a:extLst>
          </p:cNvPr>
          <p:cNvSpPr txBox="1"/>
          <p:nvPr/>
        </p:nvSpPr>
        <p:spPr>
          <a:xfrm>
            <a:off x="485774" y="1039150"/>
            <a:ext cx="5610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dirty="0" err="1"/>
              <a:t>Традиційний</a:t>
            </a:r>
            <a:r>
              <a:rPr lang="en-150" dirty="0"/>
              <a:t> </a:t>
            </a:r>
            <a:r>
              <a:rPr lang="en-150" dirty="0" err="1"/>
              <a:t>пошук</a:t>
            </a:r>
            <a:r>
              <a:rPr lang="en-150" dirty="0"/>
              <a:t> </a:t>
            </a:r>
            <a:r>
              <a:rPr lang="en-150" dirty="0" err="1"/>
              <a:t>роботи</a:t>
            </a:r>
            <a:r>
              <a:rPr lang="en-150" dirty="0"/>
              <a:t> </a:t>
            </a:r>
            <a:r>
              <a:rPr lang="en-150" dirty="0" err="1"/>
              <a:t>потребує</a:t>
            </a:r>
            <a:r>
              <a:rPr lang="en-150" dirty="0"/>
              <a:t> </a:t>
            </a:r>
            <a:r>
              <a:rPr lang="en-150" dirty="0" err="1"/>
              <a:t>використання</a:t>
            </a:r>
            <a:r>
              <a:rPr lang="en-150" dirty="0"/>
              <a:t> </a:t>
            </a:r>
            <a:r>
              <a:rPr lang="en-150" dirty="0" err="1"/>
              <a:t>багатьох</a:t>
            </a:r>
            <a:r>
              <a:rPr lang="en-150" dirty="0"/>
              <a:t> </a:t>
            </a:r>
            <a:r>
              <a:rPr lang="en-150" dirty="0" err="1"/>
              <a:t>вебсайтів</a:t>
            </a:r>
            <a:r>
              <a:rPr lang="en-150" dirty="0"/>
              <a:t> </a:t>
            </a:r>
            <a:r>
              <a:rPr lang="en-150" dirty="0" err="1"/>
              <a:t>та</a:t>
            </a:r>
            <a:r>
              <a:rPr lang="en-150" dirty="0"/>
              <a:t> </a:t>
            </a:r>
            <a:r>
              <a:rPr lang="en-150" dirty="0" err="1"/>
              <a:t>значних</a:t>
            </a:r>
            <a:r>
              <a:rPr lang="en-150" dirty="0"/>
              <a:t> </a:t>
            </a:r>
            <a:r>
              <a:rPr lang="en-150" dirty="0" err="1"/>
              <a:t>витрат</a:t>
            </a:r>
            <a:r>
              <a:rPr lang="en-150" dirty="0"/>
              <a:t> </a:t>
            </a:r>
            <a:r>
              <a:rPr lang="en-150" dirty="0" err="1"/>
              <a:t>часу</a:t>
            </a:r>
            <a:r>
              <a:rPr lang="en-150" dirty="0"/>
              <a:t>.</a:t>
            </a:r>
            <a:endParaRPr lang="en-CA" dirty="0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E7E23EFF-245B-EDA6-CE74-D5855E6AA3EB}"/>
              </a:ext>
            </a:extLst>
          </p:cNvPr>
          <p:cNvSpPr txBox="1"/>
          <p:nvPr/>
        </p:nvSpPr>
        <p:spPr>
          <a:xfrm>
            <a:off x="6436895" y="1039150"/>
            <a:ext cx="5269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dirty="0" err="1"/>
              <a:t>Відсутня</a:t>
            </a:r>
            <a:r>
              <a:rPr lang="en-150" dirty="0"/>
              <a:t> </a:t>
            </a:r>
            <a:r>
              <a:rPr lang="en-150" dirty="0" err="1"/>
              <a:t>єдина</a:t>
            </a:r>
            <a:r>
              <a:rPr lang="en-150" dirty="0"/>
              <a:t> </a:t>
            </a:r>
            <a:r>
              <a:rPr lang="en-150" dirty="0" err="1"/>
              <a:t>система</a:t>
            </a:r>
            <a:r>
              <a:rPr lang="en-150" dirty="0"/>
              <a:t> </a:t>
            </a:r>
            <a:r>
              <a:rPr lang="en-150" dirty="0" err="1"/>
              <a:t>для</a:t>
            </a:r>
            <a:r>
              <a:rPr lang="en-150" dirty="0"/>
              <a:t> </a:t>
            </a:r>
            <a:r>
              <a:rPr lang="en-150" dirty="0" err="1"/>
              <a:t>централізованого</a:t>
            </a:r>
            <a:r>
              <a:rPr lang="en-150" dirty="0"/>
              <a:t> </a:t>
            </a:r>
            <a:r>
              <a:rPr lang="en-150" dirty="0" err="1"/>
              <a:t>пошуку</a:t>
            </a:r>
            <a:r>
              <a:rPr lang="en-150" dirty="0"/>
              <a:t> </a:t>
            </a:r>
            <a:r>
              <a:rPr lang="en-150" dirty="0" err="1"/>
              <a:t>та</a:t>
            </a:r>
            <a:r>
              <a:rPr lang="en-150" dirty="0"/>
              <a:t> </a:t>
            </a:r>
            <a:r>
              <a:rPr lang="en-150" dirty="0" err="1"/>
              <a:t>порівняння</a:t>
            </a:r>
            <a:r>
              <a:rPr lang="en-150" dirty="0"/>
              <a:t> </a:t>
            </a:r>
            <a:r>
              <a:rPr lang="en-150" dirty="0" err="1"/>
              <a:t>вакансій</a:t>
            </a:r>
            <a:r>
              <a:rPr lang="en-150" dirty="0"/>
              <a:t> </a:t>
            </a:r>
            <a:r>
              <a:rPr lang="en-150" dirty="0" err="1"/>
              <a:t>із</a:t>
            </a:r>
            <a:r>
              <a:rPr lang="en-150" dirty="0"/>
              <a:t> </a:t>
            </a:r>
            <a:r>
              <a:rPr lang="en-150" dirty="0" err="1"/>
              <a:t>різних</a:t>
            </a:r>
            <a:r>
              <a:rPr lang="en-150" dirty="0"/>
              <a:t> </a:t>
            </a:r>
            <a:r>
              <a:rPr lang="en-150" dirty="0" err="1"/>
              <a:t>джерел</a:t>
            </a:r>
            <a:r>
              <a:rPr lang="en-150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8943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985F045D-0ECA-9D68-4CB0-C4989CA1A908}"/>
              </a:ext>
            </a:extLst>
          </p:cNvPr>
          <p:cNvSpPr txBox="1"/>
          <p:nvPr/>
        </p:nvSpPr>
        <p:spPr>
          <a:xfrm>
            <a:off x="1049755" y="585355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000" b="1" dirty="0" err="1"/>
              <a:t>Аналіз</a:t>
            </a:r>
            <a:r>
              <a:rPr lang="en-150" sz="2000" b="1" dirty="0"/>
              <a:t> </a:t>
            </a:r>
            <a:r>
              <a:rPr lang="en-150" sz="2000" b="1" dirty="0" err="1"/>
              <a:t>існуючих</a:t>
            </a:r>
            <a:r>
              <a:rPr lang="en-150" sz="2000" b="1" dirty="0"/>
              <a:t> </a:t>
            </a:r>
            <a:r>
              <a:rPr lang="en-150" sz="2000" b="1" dirty="0" err="1"/>
              <a:t>рішень</a:t>
            </a:r>
            <a:endParaRPr lang="en-150" sz="2000" b="1" dirty="0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B74B66E0-FD12-2253-B236-AF9893C90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302574"/>
              </p:ext>
            </p:extLst>
          </p:nvPr>
        </p:nvGraphicFramePr>
        <p:xfrm>
          <a:off x="2947737" y="1610003"/>
          <a:ext cx="8131007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341">
                  <a:extLst>
                    <a:ext uri="{9D8B030D-6E8A-4147-A177-3AD203B41FA5}">
                      <a16:colId xmlns:a16="http://schemas.microsoft.com/office/drawing/2014/main" val="9594767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434010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9833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Рішення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Переваги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Недоліки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15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LinkedIn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Велика база вакансій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Одне джерело, немає AI скорингу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24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Indeed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Простий пошук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Відсутній CV Builder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80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 dirty="0"/>
                        <a:t>VDAB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Популярний у Бельгії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/>
                        <a:t>Обмежений функціонал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1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 dirty="0" err="1"/>
                        <a:t>JobFinder</a:t>
                      </a:r>
                      <a:endParaRPr lang="en-1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 dirty="0"/>
                        <a:t>AI </a:t>
                      </a:r>
                      <a:r>
                        <a:rPr lang="en-150" dirty="0" err="1"/>
                        <a:t>скоринг</a:t>
                      </a:r>
                      <a:r>
                        <a:rPr lang="en-150" dirty="0"/>
                        <a:t>, </a:t>
                      </a:r>
                      <a:r>
                        <a:rPr lang="en-150" dirty="0" err="1"/>
                        <a:t>карта</a:t>
                      </a:r>
                      <a:r>
                        <a:rPr lang="en-150" dirty="0"/>
                        <a:t> </a:t>
                      </a:r>
                      <a:r>
                        <a:rPr lang="en-150" dirty="0" err="1"/>
                        <a:t>вакансій</a:t>
                      </a:r>
                      <a:r>
                        <a:rPr lang="en-150" dirty="0"/>
                        <a:t>, Auto Apply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150" dirty="0" err="1"/>
                        <a:t>Власна</a:t>
                      </a:r>
                      <a:r>
                        <a:rPr lang="en-150" dirty="0"/>
                        <a:t> </a:t>
                      </a:r>
                      <a:r>
                        <a:rPr lang="en-150" dirty="0" err="1"/>
                        <a:t>платформа</a:t>
                      </a:r>
                      <a:endParaRPr lang="en-1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723851"/>
                  </a:ext>
                </a:extLst>
              </a:tr>
            </a:tbl>
          </a:graphicData>
        </a:graphic>
      </p:graphicFrame>
      <p:pic>
        <p:nvPicPr>
          <p:cNvPr id="7" name="Afbeelding 6" descr="LinkedIn | Customer | Boomi">
            <a:extLst>
              <a:ext uri="{FF2B5EF4-FFF2-40B4-BE49-F238E27FC236}">
                <a16:creationId xmlns:a16="http://schemas.microsoft.com/office/drawing/2014/main" id="{3572A6F2-D648-61E2-0E93-FE108E558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667" y="2095858"/>
            <a:ext cx="979070" cy="419601"/>
          </a:xfrm>
          <a:prstGeom prst="rect">
            <a:avLst/>
          </a:prstGeom>
        </p:spPr>
      </p:pic>
      <p:pic>
        <p:nvPicPr>
          <p:cNvPr id="8" name="Afbeelding 7" descr="File:Indeed logo.svg - Wikimedia Commons">
            <a:extLst>
              <a:ext uri="{FF2B5EF4-FFF2-40B4-BE49-F238E27FC236}">
                <a16:creationId xmlns:a16="http://schemas.microsoft.com/office/drawing/2014/main" id="{1DE3FD55-C30C-FA64-9361-E5F8332E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062" y="2572695"/>
            <a:ext cx="1132974" cy="322912"/>
          </a:xfrm>
          <a:prstGeom prst="rect">
            <a:avLst/>
          </a:prstGeom>
        </p:spPr>
      </p:pic>
      <p:pic>
        <p:nvPicPr>
          <p:cNvPr id="9" name="Afbeelding 8" descr="VDAB-logo | VDAB">
            <a:extLst>
              <a:ext uri="{FF2B5EF4-FFF2-40B4-BE49-F238E27FC236}">
                <a16:creationId xmlns:a16="http://schemas.microsoft.com/office/drawing/2014/main" id="{E8773254-4F51-A294-B15B-D0FCA85AB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254" y="3001314"/>
            <a:ext cx="721896" cy="35205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3284913-1463-B39B-7847-C2395F79B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058" y="3625852"/>
            <a:ext cx="1035852" cy="18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87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E40BED5-89FF-3E95-4B38-698CA690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863527"/>
            <a:ext cx="5904854" cy="3130946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A706DEAE-06DB-B696-328B-B556F0A0122D}"/>
              </a:ext>
            </a:extLst>
          </p:cNvPr>
          <p:cNvSpPr txBox="1"/>
          <p:nvPr/>
        </p:nvSpPr>
        <p:spPr>
          <a:xfrm>
            <a:off x="371475" y="2249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/>
              <a:t>Основні функціональні можливості системи</a:t>
            </a:r>
            <a:endParaRPr lang="en-15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05A90CA7-4607-DBA2-B21A-AC29E4E7C3F1}"/>
              </a:ext>
            </a:extLst>
          </p:cNvPr>
          <p:cNvSpPr txBox="1"/>
          <p:nvPr/>
        </p:nvSpPr>
        <p:spPr>
          <a:xfrm>
            <a:off x="275902" y="674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dirty="0"/>
              <a:t>Demand Map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089EBEF-9671-BC87-4022-84906F1AC4A2}"/>
              </a:ext>
            </a:extLst>
          </p:cNvPr>
          <p:cNvSpPr txBox="1"/>
          <p:nvPr/>
        </p:nvSpPr>
        <p:spPr>
          <a:xfrm>
            <a:off x="180329" y="107869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200" dirty="0" err="1"/>
              <a:t>Інтерактивна</a:t>
            </a:r>
            <a:r>
              <a:rPr lang="en-150" sz="1200" dirty="0"/>
              <a:t> </a:t>
            </a:r>
            <a:r>
              <a:rPr lang="en-150" sz="1200" dirty="0" err="1"/>
              <a:t>карта</a:t>
            </a:r>
            <a:r>
              <a:rPr lang="en-150" sz="1200" dirty="0"/>
              <a:t> </a:t>
            </a:r>
            <a:r>
              <a:rPr lang="en-150" sz="1200" dirty="0" err="1"/>
              <a:t>вакансій</a:t>
            </a:r>
            <a:endParaRPr lang="en-CA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200" dirty="0" err="1"/>
              <a:t>Геолокація</a:t>
            </a:r>
            <a:r>
              <a:rPr lang="en-150" sz="1200" dirty="0"/>
              <a:t> </a:t>
            </a:r>
            <a:r>
              <a:rPr lang="en-150" sz="1200" dirty="0" err="1"/>
              <a:t>користувача</a:t>
            </a:r>
            <a:endParaRPr lang="en-CA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200" dirty="0" err="1"/>
              <a:t>Пошук</a:t>
            </a:r>
            <a:r>
              <a:rPr lang="en-150" sz="1200" dirty="0"/>
              <a:t> </a:t>
            </a:r>
            <a:r>
              <a:rPr lang="en-150" sz="1200" dirty="0" err="1"/>
              <a:t>вакансій</a:t>
            </a:r>
            <a:r>
              <a:rPr lang="en-150" sz="1200" dirty="0"/>
              <a:t> у </a:t>
            </a:r>
            <a:r>
              <a:rPr lang="en-150" sz="1200" dirty="0" err="1"/>
              <a:t>заданому</a:t>
            </a:r>
            <a:r>
              <a:rPr lang="en-150" sz="1200" dirty="0"/>
              <a:t> </a:t>
            </a:r>
            <a:r>
              <a:rPr lang="en-150" sz="1200" dirty="0" err="1"/>
              <a:t>радіусі</a:t>
            </a:r>
            <a:endParaRPr lang="en-CA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200" dirty="0" err="1"/>
              <a:t>Перегляд</a:t>
            </a:r>
            <a:r>
              <a:rPr lang="en-150" sz="1200" dirty="0"/>
              <a:t> </a:t>
            </a:r>
            <a:r>
              <a:rPr lang="en-150" sz="1200" dirty="0" err="1"/>
              <a:t>вакансій</a:t>
            </a:r>
            <a:r>
              <a:rPr lang="en-150" sz="1200" dirty="0"/>
              <a:t> </a:t>
            </a:r>
            <a:r>
              <a:rPr lang="en-150" sz="1200" dirty="0" err="1"/>
              <a:t>за</a:t>
            </a:r>
            <a:r>
              <a:rPr lang="en-150" sz="1200" dirty="0"/>
              <a:t> </a:t>
            </a:r>
            <a:r>
              <a:rPr lang="en-150" sz="1200" dirty="0" err="1"/>
              <a:t>містами</a:t>
            </a:r>
            <a:endParaRPr lang="en-150" sz="1200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32D1E462-8D2E-E244-0EE5-7B150924E591}"/>
              </a:ext>
            </a:extLst>
          </p:cNvPr>
          <p:cNvSpPr txBox="1"/>
          <p:nvPr/>
        </p:nvSpPr>
        <p:spPr>
          <a:xfrm>
            <a:off x="7096125" y="107869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400" dirty="0" err="1"/>
              <a:t>Покрокове</a:t>
            </a:r>
            <a:r>
              <a:rPr lang="en-150" sz="1400" dirty="0"/>
              <a:t> </a:t>
            </a:r>
            <a:r>
              <a:rPr lang="en-150" sz="1400" dirty="0" err="1"/>
              <a:t>створення</a:t>
            </a:r>
            <a:r>
              <a:rPr lang="en-150" sz="1400" dirty="0"/>
              <a:t> </a:t>
            </a:r>
            <a:r>
              <a:rPr lang="en-150" sz="1400" dirty="0" err="1"/>
              <a:t>резюме</a:t>
            </a: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400" dirty="0" err="1"/>
              <a:t>Ручний</a:t>
            </a:r>
            <a:r>
              <a:rPr lang="en-150" sz="1400" dirty="0"/>
              <a:t> </a:t>
            </a:r>
            <a:r>
              <a:rPr lang="en-150" sz="1400" dirty="0" err="1"/>
              <a:t>редактор</a:t>
            </a:r>
            <a:r>
              <a:rPr lang="en-150" sz="1400" dirty="0"/>
              <a:t> </a:t>
            </a: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400" dirty="0" err="1"/>
              <a:t>Декілька</a:t>
            </a:r>
            <a:r>
              <a:rPr lang="en-150" sz="1400" dirty="0"/>
              <a:t> </a:t>
            </a:r>
            <a:r>
              <a:rPr lang="en-150" sz="1400" dirty="0" err="1"/>
              <a:t>шаблонів</a:t>
            </a:r>
            <a:r>
              <a:rPr lang="en-150" sz="1400" dirty="0"/>
              <a:t> </a:t>
            </a:r>
            <a:r>
              <a:rPr lang="en-150" sz="1400" dirty="0" err="1"/>
              <a:t>оформлення</a:t>
            </a:r>
            <a:r>
              <a:rPr lang="en-150" sz="1400" dirty="0"/>
              <a:t> </a:t>
            </a: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400" dirty="0" err="1"/>
              <a:t>Експорт</a:t>
            </a:r>
            <a:r>
              <a:rPr lang="en-150" sz="1400" dirty="0"/>
              <a:t> у PDF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E552DC71-EA14-A8EB-2E1D-4C363FF32D92}"/>
              </a:ext>
            </a:extLst>
          </p:cNvPr>
          <p:cNvSpPr txBox="1"/>
          <p:nvPr/>
        </p:nvSpPr>
        <p:spPr>
          <a:xfrm>
            <a:off x="7096125" y="674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CV Builder</a:t>
            </a:r>
            <a:endParaRPr lang="en-150" dirty="0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10272CB7-BD55-B523-F2D7-6FC07BCB4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4" y="2067281"/>
            <a:ext cx="4362451" cy="445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5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C0ADB352-D06D-2E88-9D38-25EF3A7E76F5}"/>
              </a:ext>
            </a:extLst>
          </p:cNvPr>
          <p:cNvSpPr txBox="1"/>
          <p:nvPr/>
        </p:nvSpPr>
        <p:spPr>
          <a:xfrm>
            <a:off x="1085850" y="39635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000" b="1"/>
              <a:t>Реалізація пошуку вакансій</a:t>
            </a:r>
            <a:endParaRPr lang="en-150" sz="2000" b="1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AD92482-D588-F225-F62A-4247232EB0DA}"/>
              </a:ext>
            </a:extLst>
          </p:cNvPr>
          <p:cNvSpPr txBox="1"/>
          <p:nvPr/>
        </p:nvSpPr>
        <p:spPr>
          <a:xfrm>
            <a:off x="1085850" y="10821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dirty="0" err="1"/>
              <a:t>Пошук</a:t>
            </a:r>
            <a:r>
              <a:rPr lang="en-150" dirty="0"/>
              <a:t> </a:t>
            </a:r>
            <a:r>
              <a:rPr lang="en-150" dirty="0" err="1"/>
              <a:t>вакансій</a:t>
            </a:r>
            <a:endParaRPr lang="en-15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AB7239D-0BF0-4659-C0E7-F0D1E8BF62B5}"/>
              </a:ext>
            </a:extLst>
          </p:cNvPr>
          <p:cNvSpPr txBox="1"/>
          <p:nvPr/>
        </p:nvSpPr>
        <p:spPr>
          <a:xfrm>
            <a:off x="1085850" y="154811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dirty="0" err="1"/>
              <a:t>Агрегація</a:t>
            </a:r>
            <a:r>
              <a:rPr lang="en-150" dirty="0"/>
              <a:t> </a:t>
            </a:r>
            <a:r>
              <a:rPr lang="en-150" dirty="0" err="1"/>
              <a:t>вакансій</a:t>
            </a:r>
            <a:r>
              <a:rPr lang="en-150" dirty="0"/>
              <a:t> </a:t>
            </a:r>
            <a:r>
              <a:rPr lang="en-150" dirty="0" err="1"/>
              <a:t>із</a:t>
            </a:r>
            <a:r>
              <a:rPr lang="en-150" dirty="0"/>
              <a:t> </a:t>
            </a:r>
            <a:r>
              <a:rPr lang="en-150" dirty="0" err="1"/>
              <a:t>зовнішніх</a:t>
            </a:r>
            <a:r>
              <a:rPr lang="en-150" dirty="0"/>
              <a:t> </a:t>
            </a:r>
            <a:r>
              <a:rPr lang="en-150" dirty="0" err="1"/>
              <a:t>джерел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dirty="0" err="1"/>
              <a:t>Нормалізація</a:t>
            </a:r>
            <a:r>
              <a:rPr lang="en-150" dirty="0"/>
              <a:t> </a:t>
            </a:r>
            <a:r>
              <a:rPr lang="en-150" dirty="0" err="1"/>
              <a:t>отриманих</a:t>
            </a:r>
            <a:r>
              <a:rPr lang="en-150" dirty="0"/>
              <a:t> </a:t>
            </a:r>
            <a:r>
              <a:rPr lang="en-150" dirty="0" err="1"/>
              <a:t>даних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dirty="0" err="1"/>
              <a:t>Видалення</a:t>
            </a:r>
            <a:r>
              <a:rPr lang="en-150" dirty="0"/>
              <a:t> </a:t>
            </a:r>
            <a:r>
              <a:rPr lang="en-150" dirty="0" err="1"/>
              <a:t>дублікатів</a:t>
            </a:r>
            <a:r>
              <a:rPr lang="en-150" dirty="0"/>
              <a:t> </a:t>
            </a:r>
            <a:r>
              <a:rPr lang="en-150" dirty="0" err="1"/>
              <a:t>вакансій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dirty="0" err="1"/>
              <a:t>Збереження</a:t>
            </a:r>
            <a:r>
              <a:rPr lang="en-150" dirty="0"/>
              <a:t> у PostgreSQL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41C1CBE-72E2-4FDC-971F-53C67D2E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943225"/>
            <a:ext cx="59436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8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D5D8E2D4-931B-0D57-6C3C-FFB87D11FB9E}"/>
              </a:ext>
            </a:extLst>
          </p:cNvPr>
          <p:cNvSpPr txBox="1"/>
          <p:nvPr/>
        </p:nvSpPr>
        <p:spPr>
          <a:xfrm>
            <a:off x="571500" y="2820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dirty="0" err="1"/>
              <a:t>Вибір</a:t>
            </a:r>
            <a:r>
              <a:rPr lang="en-150" dirty="0"/>
              <a:t> </a:t>
            </a:r>
            <a:r>
              <a:rPr lang="en-150" dirty="0" err="1"/>
              <a:t>технологій</a:t>
            </a:r>
            <a:r>
              <a:rPr lang="en-150" dirty="0"/>
              <a:t> </a:t>
            </a:r>
            <a:r>
              <a:rPr lang="en-150" dirty="0" err="1"/>
              <a:t>розробки</a:t>
            </a:r>
            <a:endParaRPr lang="en-15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3E16F9D-0761-235C-4C9E-C88038FE8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876300"/>
            <a:ext cx="70485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7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4AEC003B-CF0B-683A-A23F-CAAD5E456B6B}"/>
              </a:ext>
            </a:extLst>
          </p:cNvPr>
          <p:cNvSpPr txBox="1"/>
          <p:nvPr/>
        </p:nvSpPr>
        <p:spPr>
          <a:xfrm>
            <a:off x="561975" y="49160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000" b="1" dirty="0" err="1"/>
              <a:t>Пошук</a:t>
            </a:r>
            <a:r>
              <a:rPr lang="en-150" sz="2000" b="1" dirty="0"/>
              <a:t> </a:t>
            </a:r>
            <a:r>
              <a:rPr lang="en-150" sz="2000" b="1" dirty="0" err="1"/>
              <a:t>вакансій</a:t>
            </a:r>
            <a:endParaRPr lang="en-150" sz="2000" b="1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6B25FA5-DDC3-C03F-4B77-382A4810F597}"/>
              </a:ext>
            </a:extLst>
          </p:cNvPr>
          <p:cNvSpPr txBox="1"/>
          <p:nvPr/>
        </p:nvSpPr>
        <p:spPr>
          <a:xfrm>
            <a:off x="238125" y="89575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600" dirty="0" err="1"/>
              <a:t>Агрегація</a:t>
            </a:r>
            <a:r>
              <a:rPr lang="en-150" sz="1600" dirty="0"/>
              <a:t> </a:t>
            </a:r>
            <a:r>
              <a:rPr lang="en-150" sz="1600" dirty="0" err="1"/>
              <a:t>вакансій</a:t>
            </a:r>
            <a:endParaRPr lang="uk-U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600" dirty="0" err="1"/>
              <a:t>Фільтрація</a:t>
            </a:r>
            <a:endParaRPr lang="uk-U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600" dirty="0" err="1"/>
              <a:t>Сортування</a:t>
            </a:r>
            <a:endParaRPr lang="uk-U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600" dirty="0" err="1"/>
              <a:t>Пошук</a:t>
            </a:r>
            <a:r>
              <a:rPr lang="en-150" sz="1600" dirty="0"/>
              <a:t> </a:t>
            </a:r>
            <a:r>
              <a:rPr lang="en-150" sz="1600" dirty="0" err="1"/>
              <a:t>за</a:t>
            </a:r>
            <a:r>
              <a:rPr lang="en-150" sz="1600" dirty="0"/>
              <a:t> </a:t>
            </a:r>
            <a:r>
              <a:rPr lang="en-150" sz="1600" dirty="0" err="1"/>
              <a:t>ключовими</a:t>
            </a:r>
            <a:r>
              <a:rPr lang="en-150" sz="1600" dirty="0"/>
              <a:t> </a:t>
            </a:r>
            <a:r>
              <a:rPr lang="en-150" sz="1600" dirty="0" err="1"/>
              <a:t>словами</a:t>
            </a:r>
            <a:endParaRPr lang="uk-U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150" sz="1600" dirty="0" err="1"/>
              <a:t>Збереження</a:t>
            </a:r>
            <a:r>
              <a:rPr lang="en-150" sz="1600" dirty="0"/>
              <a:t> </a:t>
            </a:r>
            <a:r>
              <a:rPr lang="en-150" sz="1600" dirty="0" err="1"/>
              <a:t>вакансій</a:t>
            </a:r>
            <a:endParaRPr lang="en-150" sz="16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29BCEFA-4803-C227-23EA-EBC78C2B6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2965942"/>
            <a:ext cx="4438650" cy="1841254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BA1A70A-E06F-AF1B-54AF-017386530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84" y="222004"/>
            <a:ext cx="5663432" cy="1638724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2A89D4F-2A20-4FFA-5BFF-A1CA40C30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586" y="1975120"/>
            <a:ext cx="5073064" cy="25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2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68DCA24D-B087-EE9A-DC10-E29088F19EDB}"/>
              </a:ext>
            </a:extLst>
          </p:cNvPr>
          <p:cNvSpPr txBox="1"/>
          <p:nvPr/>
        </p:nvSpPr>
        <p:spPr>
          <a:xfrm>
            <a:off x="628650" y="45350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000" dirty="0" err="1"/>
              <a:t>Модель</a:t>
            </a:r>
            <a:r>
              <a:rPr lang="en-150" sz="2000" dirty="0"/>
              <a:t> </a:t>
            </a:r>
            <a:r>
              <a:rPr lang="en-150" sz="2000" dirty="0" err="1"/>
              <a:t>даних</a:t>
            </a:r>
            <a:endParaRPr lang="en-150" sz="20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BE6495E-39A3-F54D-B658-E6139416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38275"/>
            <a:ext cx="85344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9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54C68E69-1DFF-7F12-0EFE-997D0D8FA6CC}"/>
              </a:ext>
            </a:extLst>
          </p:cNvPr>
          <p:cNvSpPr txBox="1"/>
          <p:nvPr/>
        </p:nvSpPr>
        <p:spPr>
          <a:xfrm>
            <a:off x="752475" y="43445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150" sz="2000" dirty="0" err="1"/>
              <a:t>Тестування</a:t>
            </a:r>
            <a:endParaRPr lang="en-150" sz="20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0D04D71-24DE-734A-6BEB-AD7B3528B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75" y="1285875"/>
            <a:ext cx="4322799" cy="5038925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649CFD3-6559-E810-000D-974FCD0FD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927" y="593497"/>
            <a:ext cx="4598002" cy="1384756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C826AB4-8966-A0D0-1DA2-8602A85F1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927" y="1978253"/>
            <a:ext cx="4598001" cy="468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7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FFB61D23-35DB-0DC6-199E-A4C5F4FAB5A6}"/>
              </a:ext>
            </a:extLst>
          </p:cNvPr>
          <p:cNvSpPr/>
          <p:nvPr/>
        </p:nvSpPr>
        <p:spPr>
          <a:xfrm>
            <a:off x="552450" y="809625"/>
            <a:ext cx="9915525" cy="567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5F6482CF-2E40-7D10-1806-3354BA78676A}"/>
              </a:ext>
            </a:extLst>
          </p:cNvPr>
          <p:cNvSpPr txBox="1"/>
          <p:nvPr/>
        </p:nvSpPr>
        <p:spPr>
          <a:xfrm>
            <a:off x="466725" y="238125"/>
            <a:ext cx="428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Приклад реалізації пошукової системи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7580843D-6BA8-D0E7-7A3B-95453BE14EA5}"/>
              </a:ext>
            </a:extLst>
          </p:cNvPr>
          <p:cNvSpPr txBox="1">
            <a:spLocks/>
          </p:cNvSpPr>
          <p:nvPr/>
        </p:nvSpPr>
        <p:spPr>
          <a:xfrm>
            <a:off x="685800" y="763935"/>
            <a:ext cx="97345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async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searchAllSites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keywords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regions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[],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jobTypes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[],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maxResults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country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'BE'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allJobs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[];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searchQueries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searchEnhancer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generateAllSearchQueries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keywords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Синоніми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EN/NL/UA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Платформи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для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паралельного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скрейпінгу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sites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'stepstone'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scraper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scrapeStepstone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country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},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];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legacyConfig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indeed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push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({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'indeed'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scraper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scrapeIndeed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country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});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legacyConfig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linkedin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push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({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150" sz="1200" b="0" i="0" dirty="0" err="1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linkedin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scraper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scrapeLinkedIn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country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});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country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===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'BE'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legacyConfig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vdab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push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({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150" sz="1200" b="0" i="0" dirty="0" err="1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vdab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scraper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scrapeVdab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bind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});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legacyConfig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antwerpen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push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({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150" sz="1200" b="0" i="0" dirty="0" err="1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antwerpen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scraper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scrapeAntwerpen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bind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});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searchQuery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of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searchQueries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Всі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сайти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скрейпляться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ПАРАЛЕЛЬНО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через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Promise.all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siteResults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await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Promise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all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Promise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race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([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scraper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searchQuery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regions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),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Promise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_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reject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setTimeout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(()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reject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'timeout'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)),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20000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]).</a:t>
            </a:r>
            <a:r>
              <a:rPr lang="en-150" sz="1200" b="0" i="0" dirty="0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catch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(()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[]))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siteResults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forEach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jobs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allJobs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push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(...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jobs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));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allJobs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length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&gt;=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maxResults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break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Достатньо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результатів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uniqueJobs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removeDuplicates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allJobs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Дедуплікація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en-150" sz="12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2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interleaveResults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uniqueJobs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150" sz="1200" b="0" i="0" dirty="0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slice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2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maxResults</a:t>
            </a: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r>
              <a:rPr lang="en-150" sz="12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Round-robin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по</a:t>
            </a:r>
            <a:r>
              <a:rPr lang="en-150" sz="12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2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джерелах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2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</a:t>
            </a:r>
            <a:endParaRPr lang="en-150" sz="12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59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28C639DE-CC5A-0FDB-A1BD-28582BD39167}"/>
              </a:ext>
            </a:extLst>
          </p:cNvPr>
          <p:cNvSpPr/>
          <p:nvPr/>
        </p:nvSpPr>
        <p:spPr>
          <a:xfrm>
            <a:off x="733425" y="715982"/>
            <a:ext cx="9010650" cy="5728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C05976E-2011-4AC1-72DE-18C6725C12C0}"/>
              </a:ext>
            </a:extLst>
          </p:cNvPr>
          <p:cNvSpPr txBox="1"/>
          <p:nvPr/>
        </p:nvSpPr>
        <p:spPr>
          <a:xfrm>
            <a:off x="857250" y="3011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Приклад реалізації створювача резюме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665DE52-E5DD-FEE9-0E76-E1BF77A57649}"/>
              </a:ext>
            </a:extLst>
          </p:cNvPr>
          <p:cNvSpPr txBox="1"/>
          <p:nvPr/>
        </p:nvSpPr>
        <p:spPr>
          <a:xfrm>
            <a:off x="857250" y="787628"/>
            <a:ext cx="8839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Auto-save: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зберігає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CV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кожні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3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секунди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при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будь-яких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змінах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useEffect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(()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mode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!==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'editor'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||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loading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clearTimeout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autoSaveTimerRef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current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autoSaveTimerRef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current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setTimeout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(()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resumeData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sectionsToResumeData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sections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languages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resumeAPI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update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resumeData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150" sz="1400" b="0" i="0" dirty="0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catch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(()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{});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3000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clearTimeout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autoSaveTimerRef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current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sections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languages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mode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loading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]);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Завантаження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паралельне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отримання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Resume + Profile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через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Promise.allSettled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loadResumeData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async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setLoading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resumeResult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profileResult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await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Promise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allSettled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([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resumeAPI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get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(),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profileAPI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get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]);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resume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resumeResult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status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===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'fulfilled'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?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resumeResult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?.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profile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profileResult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status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===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'fulfilled'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?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profileResult</a:t>
            </a:r>
            <a:r>
              <a:rPr lang="en-150" sz="1400" b="0" i="0" dirty="0" err="1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150" sz="1400" b="0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66D9E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{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setSections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resumeDataToSections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resume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profile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setMode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A6E22E"/>
                </a:solidFill>
                <a:effectLst/>
                <a:latin typeface="Courier New" panose="02070309020205020404" pitchFamily="49" charset="0"/>
              </a:rPr>
              <a:t>'editor'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r>
              <a:rPr lang="en-150" sz="1400" b="0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Перехід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до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режиму</a:t>
            </a:r>
            <a:r>
              <a:rPr lang="en-150" sz="1400" b="0" i="0" dirty="0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150" sz="1400" b="0" i="0" dirty="0" err="1">
                <a:solidFill>
                  <a:srgbClr val="8292A2"/>
                </a:solidFill>
                <a:effectLst/>
                <a:latin typeface="Courier New" panose="02070309020205020404" pitchFamily="49" charset="0"/>
              </a:rPr>
              <a:t>редагування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 err="1">
                <a:solidFill>
                  <a:srgbClr val="E6DB74"/>
                </a:solidFill>
                <a:effectLst/>
                <a:latin typeface="Courier New" panose="02070309020205020404" pitchFamily="49" charset="0"/>
              </a:rPr>
              <a:t>setLoading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150" sz="1400" b="0" i="0" dirty="0">
                <a:solidFill>
                  <a:srgbClr val="AE81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150" sz="1400" b="0" i="0" dirty="0">
                <a:solidFill>
                  <a:srgbClr val="F8F8F2"/>
                </a:solidFill>
                <a:effectLst/>
                <a:latin typeface="Courier New" panose="02070309020205020404" pitchFamily="49" charset="0"/>
              </a:rPr>
              <a:t>};</a:t>
            </a:r>
            <a:endParaRPr lang="en-150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0401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773</Words>
  <Application>Microsoft Office PowerPoint</Application>
  <PresentationFormat>Breedbeeld</PresentationFormat>
  <Paragraphs>117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Kantoorthema</vt:lpstr>
      <vt:lpstr>Кваліфікаційна робота бакалавра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Артем Філатов</dc:creator>
  <cp:lastModifiedBy>Артем Філатов</cp:lastModifiedBy>
  <cp:revision>3</cp:revision>
  <dcterms:created xsi:type="dcterms:W3CDTF">2026-07-02T14:49:30Z</dcterms:created>
  <dcterms:modified xsi:type="dcterms:W3CDTF">2026-07-05T22:38:48Z</dcterms:modified>
</cp:coreProperties>
</file>